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56C204-B22F-436B-B56D-B6186600F9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A6901F-4CC5-42CC-8D8A-6A7C61CB4E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E456F3B-9B78-4416-AB47-EDA599D1C1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D50660C-DD93-42C5-A1E2-B0DBA52B39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53C9A6-B6FC-4699-A1FF-B06641EE7A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C33338-97DC-435B-9055-95766ED74C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F568B11-2B9B-460E-A7C1-A7EFB34F81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D459702-5356-44F3-A3D7-D1B87B8E77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8402617-F60B-48DF-A38C-BFA9198002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27D6B9F-3EF3-4D6C-B6C0-9F42D61B90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1D1C58-446E-4183-911C-A795BF32EC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803280"/>
            <a:ext cx="12191040" cy="54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731520" y="457200"/>
            <a:ext cx="10728000" cy="5942880"/>
          </a:xfrm>
          <a:prstGeom prst="rect">
            <a:avLst/>
          </a:prstGeom>
          <a:noFill/>
          <a:ln w="12700">
            <a:solidFill>
              <a:srgbClr val="3A35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97280" y="1280160"/>
            <a:ext cx="9966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097280" y="1828800"/>
            <a:ext cx="99662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7200"/>
              </a:lnSpc>
            </a:pPr>
            <a:r>
              <a:rPr lang="en-US" sz="60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AETHELGARD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5029200" y="2926080"/>
            <a:ext cx="210240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097280" y="3200400"/>
            <a:ext cx="9966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3078"/>
              </a:lnSpc>
            </a:pPr>
            <a:r>
              <a:rPr lang="en-US" sz="2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Factor-Graph-Driven Decision Making</a:t>
            </a:r>
            <a:br>
              <a:rPr sz="2200"/>
            </a:br>
            <a:r>
              <a:rPr lang="en-US" sz="2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in an Interactive Narrative Adventure Game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097280" y="4572000"/>
            <a:ext cx="9966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50"/>
              </a:lnSpc>
            </a:pPr>
            <a:r>
              <a:rPr lang="en-US" sz="13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Soomaiya Chowdhury (2211856042)  |  Mahmudur Rahman Labib (2131214642)  |  Shreysee Moni Shashy (2122043642)  |  Shafi Mahadi Nowrose (2121620643)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The Problem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40080" y="118872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0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Every interactive narrative game today uses the same broken approach: scripted decision trees.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640080" y="2103120"/>
            <a:ext cx="3611160" cy="20109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A83A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868680" y="2331720"/>
            <a:ext cx="315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880"/>
              </a:lnSpc>
            </a:pPr>
            <a:r>
              <a:rPr lang="en-US" sz="24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2^N paths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0"/>
          <p:cNvSpPr/>
          <p:nvPr/>
        </p:nvSpPr>
        <p:spPr>
          <a:xfrm>
            <a:off x="1737360" y="2880360"/>
            <a:ext cx="141660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868680" y="3063240"/>
            <a:ext cx="3153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100"/>
              </a:lnSpc>
            </a:pP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20 decision points = 1 million+ paths.</a:t>
            </a:r>
            <a:br>
              <a:rPr sz="1500"/>
            </a:b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Impossible to author by hand.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4434840" y="2103120"/>
            <a:ext cx="3611160" cy="20109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E8B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4663440" y="2331720"/>
            <a:ext cx="315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880"/>
              </a:lnSpc>
            </a:pPr>
            <a:r>
              <a:rPr lang="en-US" sz="2400" b="1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Deterministic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4"/>
          <p:cNvSpPr/>
          <p:nvPr/>
        </p:nvSpPr>
        <p:spPr>
          <a:xfrm>
            <a:off x="5532120" y="2880360"/>
            <a:ext cx="141660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4663440" y="3063240"/>
            <a:ext cx="3153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100"/>
              </a:lnSpc>
            </a:pP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Same choice = same outcome, every time.</a:t>
            </a:r>
            <a:br>
              <a:rPr sz="1500"/>
            </a:b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No adaptation to player history.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6"/>
          <p:cNvSpPr/>
          <p:nvPr/>
        </p:nvSpPr>
        <p:spPr>
          <a:xfrm>
            <a:off x="8229600" y="2103120"/>
            <a:ext cx="3611160" cy="20109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7A5C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8458200" y="2331720"/>
            <a:ext cx="315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880"/>
              </a:lnSpc>
            </a:pPr>
            <a:r>
              <a:rPr lang="en-US" sz="2400" b="1" u="none" strike="noStrike">
                <a:solidFill>
                  <a:srgbClr val="7A5CC4"/>
                </a:solidFill>
                <a:effectLst/>
                <a:uFillTx/>
                <a:latin typeface="Calibri"/>
              </a:rPr>
              <a:t>No replayability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8"/>
          <p:cNvSpPr/>
          <p:nvPr/>
        </p:nvSpPr>
        <p:spPr>
          <a:xfrm>
            <a:off x="9326880" y="2880360"/>
            <a:ext cx="141660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458200" y="3063240"/>
            <a:ext cx="31539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100"/>
              </a:lnSpc>
            </a:pP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Once you've seen one path, you've</a:t>
            </a:r>
            <a:br>
              <a:rPr sz="1500"/>
            </a:br>
            <a:r>
              <a:rPr lang="en-US" sz="15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seen them all. The illusion collapses.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640080" y="466344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401"/>
              </a:lnSpc>
            </a:pPr>
            <a:r>
              <a:rPr lang="en-US" sz="20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What if outcomes weren't scripted — but inferred?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1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2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4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3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Our Idea: Factor Graphs for Narrative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640080" y="118872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0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At every decision point, build a factor graph that reasons about the hidden state of the world.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8"/>
          <p:cNvSpPr/>
          <p:nvPr/>
        </p:nvSpPr>
        <p:spPr>
          <a:xfrm>
            <a:off x="640080" y="2011680"/>
            <a:ext cx="3611160" cy="2925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4A8C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9"/>
          <p:cNvSpPr/>
          <p:nvPr/>
        </p:nvSpPr>
        <p:spPr>
          <a:xfrm>
            <a:off x="640080" y="2011680"/>
            <a:ext cx="3611160" cy="593640"/>
          </a:xfrm>
          <a:prstGeom prst="roundRect">
            <a:avLst>
              <a:gd name="adj" fmla="val 16667"/>
            </a:avLst>
          </a:prstGeom>
          <a:solidFill>
            <a:srgbClr val="4A8C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822960" y="2103120"/>
            <a:ext cx="3245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What you SEE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868680" y="278892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Your HP, Resolve, Morality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(known, fixed evidence)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868680" y="4023360"/>
            <a:ext cx="3153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689"/>
              </a:lnSpc>
            </a:pPr>
            <a:r>
              <a:rPr lang="en-US" sz="1300" b="0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Player stats as</a:t>
            </a:r>
            <a:br>
              <a:rPr sz="1300"/>
            </a:br>
            <a:r>
              <a:rPr lang="en-US" sz="1300" b="0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observed variables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3"/>
          <p:cNvSpPr/>
          <p:nvPr/>
        </p:nvSpPr>
        <p:spPr>
          <a:xfrm>
            <a:off x="4434840" y="2011680"/>
            <a:ext cx="3611160" cy="2925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E8B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14"/>
          <p:cNvSpPr/>
          <p:nvPr/>
        </p:nvSpPr>
        <p:spPr>
          <a:xfrm>
            <a:off x="4434840" y="2011680"/>
            <a:ext cx="3611160" cy="593640"/>
          </a:xfrm>
          <a:prstGeom prst="roundRect">
            <a:avLst>
              <a:gd name="adj" fmla="val 16667"/>
            </a:avLst>
          </a:prstGeom>
          <a:solidFill>
            <a:srgbClr val="E8B8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4617720" y="2103120"/>
            <a:ext cx="3245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What's HIDDEN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4663440" y="278892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NPC trust, threat level,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resource scarcity, knowledge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4663440" y="4023360"/>
            <a:ext cx="3153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689"/>
              </a:lnSpc>
            </a:pPr>
            <a:r>
              <a:rPr lang="en-US" sz="13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6 hidden variables</a:t>
            </a:r>
            <a:br>
              <a:rPr sz="1300"/>
            </a:br>
            <a:r>
              <a:rPr lang="en-US" sz="13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inferred by the graph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8"/>
          <p:cNvSpPr/>
          <p:nvPr/>
        </p:nvSpPr>
        <p:spPr>
          <a:xfrm>
            <a:off x="8229600" y="2011680"/>
            <a:ext cx="3611160" cy="2925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9050">
            <a:solidFill>
              <a:srgbClr val="4A7C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19"/>
          <p:cNvSpPr/>
          <p:nvPr/>
        </p:nvSpPr>
        <p:spPr>
          <a:xfrm>
            <a:off x="8229600" y="2011680"/>
            <a:ext cx="3611160" cy="593640"/>
          </a:xfrm>
          <a:prstGeom prst="roundRect">
            <a:avLst>
              <a:gd name="adj" fmla="val 16667"/>
            </a:avLst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8412480" y="2103120"/>
            <a:ext cx="3245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What EMERGES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8458200" y="278892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Stat changes, betrayals,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ambushes, story outcomes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2"/>
          <p:cNvSpPr/>
          <p:nvPr/>
        </p:nvSpPr>
        <p:spPr>
          <a:xfrm>
            <a:off x="8458200" y="4023360"/>
            <a:ext cx="3153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689"/>
              </a:lnSpc>
            </a:pPr>
            <a:r>
              <a:rPr lang="en-US" sz="1300" b="0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All outcomes probabilistic,</a:t>
            </a:r>
            <a:br>
              <a:rPr sz="1300"/>
            </a:br>
            <a:r>
              <a:rPr lang="en-US" sz="1300" b="0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never hardcoded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ight Arrow 23"/>
          <p:cNvSpPr/>
          <p:nvPr/>
        </p:nvSpPr>
        <p:spPr>
          <a:xfrm>
            <a:off x="4187880" y="3108960"/>
            <a:ext cx="319320" cy="31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ight Arrow 24"/>
          <p:cNvSpPr/>
          <p:nvPr/>
        </p:nvSpPr>
        <p:spPr>
          <a:xfrm>
            <a:off x="7982640" y="3108960"/>
            <a:ext cx="319320" cy="31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25"/>
          <p:cNvSpPr/>
          <p:nvPr/>
        </p:nvSpPr>
        <p:spPr>
          <a:xfrm>
            <a:off x="640080" y="5212080"/>
            <a:ext cx="10880640" cy="77652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C9A8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914400" y="5303520"/>
            <a:ext cx="10332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024"/>
              </a:lnSpc>
            </a:pPr>
            <a:r>
              <a:rPr lang="en-US" sz="15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Key insight: beliefs carry forward between scenes. Early decisions compound — creating a coherent, evolving story model, not isolated events.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7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8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9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0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4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How It Works: The Inference Loop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Oval 7"/>
          <p:cNvSpPr/>
          <p:nvPr/>
        </p:nvSpPr>
        <p:spPr>
          <a:xfrm>
            <a:off x="1051560" y="1188720"/>
            <a:ext cx="593640" cy="593640"/>
          </a:xfrm>
          <a:prstGeom prst="ellipse">
            <a:avLst/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1051560" y="126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1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274320" y="1965960"/>
            <a:ext cx="2148120" cy="16452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4A7C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384120" y="21031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Build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384120" y="2514600"/>
            <a:ext cx="1919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Construct factor graph</a:t>
            </a:r>
            <a:br>
              <a:rPr sz="1200"/>
            </a:b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for current scene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ight Arrow 12"/>
          <p:cNvSpPr/>
          <p:nvPr/>
        </p:nvSpPr>
        <p:spPr>
          <a:xfrm>
            <a:off x="2441520" y="2606040"/>
            <a:ext cx="18216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Oval 13"/>
          <p:cNvSpPr/>
          <p:nvPr/>
        </p:nvSpPr>
        <p:spPr>
          <a:xfrm>
            <a:off x="3383280" y="1188720"/>
            <a:ext cx="593640" cy="593640"/>
          </a:xfrm>
          <a:prstGeom prst="ellipse">
            <a:avLst/>
          </a:prstGeom>
          <a:solidFill>
            <a:srgbClr val="7A5C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3383280" y="126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1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5"/>
          <p:cNvSpPr/>
          <p:nvPr/>
        </p:nvSpPr>
        <p:spPr>
          <a:xfrm>
            <a:off x="2606040" y="1965960"/>
            <a:ext cx="2148120" cy="16452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7A5C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2715840" y="21031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7A5CC4"/>
                </a:solidFill>
                <a:effectLst/>
                <a:uFillTx/>
                <a:latin typeface="Calibri"/>
              </a:rPr>
              <a:t>Sample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2715840" y="2514600"/>
            <a:ext cx="1919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300 Monte Carlo samples</a:t>
            </a:r>
            <a:br>
              <a:rPr sz="1200"/>
            </a:b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per factor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ight Arrow 18"/>
          <p:cNvSpPr/>
          <p:nvPr/>
        </p:nvSpPr>
        <p:spPr>
          <a:xfrm>
            <a:off x="4773240" y="2606040"/>
            <a:ext cx="18216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Oval 19"/>
          <p:cNvSpPr/>
          <p:nvPr/>
        </p:nvSpPr>
        <p:spPr>
          <a:xfrm>
            <a:off x="5715000" y="1188720"/>
            <a:ext cx="593640" cy="593640"/>
          </a:xfrm>
          <a:prstGeom prst="ellipse">
            <a:avLst/>
          </a:prstGeom>
          <a:solidFill>
            <a:srgbClr val="E8B8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5715000" y="126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1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1"/>
          <p:cNvSpPr/>
          <p:nvPr/>
        </p:nvSpPr>
        <p:spPr>
          <a:xfrm>
            <a:off x="4937760" y="1965960"/>
            <a:ext cx="2148120" cy="16452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E8B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5047560" y="21031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Propagate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3"/>
          <p:cNvSpPr/>
          <p:nvPr/>
        </p:nvSpPr>
        <p:spPr>
          <a:xfrm>
            <a:off x="5047560" y="2514600"/>
            <a:ext cx="1919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Messages pass between</a:t>
            </a:r>
            <a:br>
              <a:rPr sz="1200"/>
            </a:b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factors and variables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ight Arrow 24"/>
          <p:cNvSpPr/>
          <p:nvPr/>
        </p:nvSpPr>
        <p:spPr>
          <a:xfrm>
            <a:off x="7104960" y="2606040"/>
            <a:ext cx="18216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Oval 25"/>
          <p:cNvSpPr/>
          <p:nvPr/>
        </p:nvSpPr>
        <p:spPr>
          <a:xfrm>
            <a:off x="8046720" y="1188720"/>
            <a:ext cx="593640" cy="593640"/>
          </a:xfrm>
          <a:prstGeom prst="ellipse">
            <a:avLst/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6"/>
          <p:cNvSpPr/>
          <p:nvPr/>
        </p:nvSpPr>
        <p:spPr>
          <a:xfrm>
            <a:off x="8046720" y="126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1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27"/>
          <p:cNvSpPr/>
          <p:nvPr/>
        </p:nvSpPr>
        <p:spPr>
          <a:xfrm>
            <a:off x="7269480" y="1965960"/>
            <a:ext cx="2148120" cy="16452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A83A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8"/>
          <p:cNvSpPr/>
          <p:nvPr/>
        </p:nvSpPr>
        <p:spPr>
          <a:xfrm>
            <a:off x="7379280" y="21031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Decide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9"/>
          <p:cNvSpPr/>
          <p:nvPr/>
        </p:nvSpPr>
        <p:spPr>
          <a:xfrm>
            <a:off x="7379280" y="2514600"/>
            <a:ext cx="1919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Sample stat changes,</a:t>
            </a:r>
            <a:br>
              <a:rPr sz="1200"/>
            </a:b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check betrayals &amp; ambushes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ight Arrow 30"/>
          <p:cNvSpPr/>
          <p:nvPr/>
        </p:nvSpPr>
        <p:spPr>
          <a:xfrm>
            <a:off x="9436680" y="2606040"/>
            <a:ext cx="18216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Oval 31"/>
          <p:cNvSpPr/>
          <p:nvPr/>
        </p:nvSpPr>
        <p:spPr>
          <a:xfrm>
            <a:off x="10378440" y="1188720"/>
            <a:ext cx="593640" cy="593640"/>
          </a:xfrm>
          <a:prstGeom prst="ellipse">
            <a:avLst/>
          </a:prstGeom>
          <a:solidFill>
            <a:srgbClr val="4A8C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32"/>
          <p:cNvSpPr/>
          <p:nvPr/>
        </p:nvSpPr>
        <p:spPr>
          <a:xfrm>
            <a:off x="10378440" y="1261800"/>
            <a:ext cx="59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1" u="none" strike="noStrike">
                <a:solidFill>
                  <a:srgbClr val="F0EDE3"/>
                </a:solidFill>
                <a:effectLst/>
                <a:uFillTx/>
                <a:latin typeface="Calibri"/>
              </a:rPr>
              <a:t>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3"/>
          <p:cNvSpPr/>
          <p:nvPr/>
        </p:nvSpPr>
        <p:spPr>
          <a:xfrm>
            <a:off x="9601200" y="1965960"/>
            <a:ext cx="2148120" cy="16452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4A8C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4"/>
          <p:cNvSpPr/>
          <p:nvPr/>
        </p:nvSpPr>
        <p:spPr>
          <a:xfrm>
            <a:off x="9711000" y="210312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1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Carry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5"/>
          <p:cNvSpPr/>
          <p:nvPr/>
        </p:nvSpPr>
        <p:spPr>
          <a:xfrm>
            <a:off x="9711000" y="2514600"/>
            <a:ext cx="1919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Snapshot posteriors as</a:t>
            </a:r>
            <a:br>
              <a:rPr sz="1200"/>
            </a:b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priors for next scene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36"/>
          <p:cNvSpPr/>
          <p:nvPr/>
        </p:nvSpPr>
        <p:spPr>
          <a:xfrm>
            <a:off x="640080" y="3931920"/>
            <a:ext cx="10880640" cy="223992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8B76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7"/>
          <p:cNvSpPr/>
          <p:nvPr/>
        </p:nvSpPr>
        <p:spPr>
          <a:xfrm>
            <a:off x="914400" y="406908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WHAT THE PLAYER SEES ACROSS 5 SCENES: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8"/>
          <p:cNvSpPr/>
          <p:nvPr/>
        </p:nvSpPr>
        <p:spPr>
          <a:xfrm>
            <a:off x="1097280" y="452628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Threat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39"/>
          <p:cNvSpPr/>
          <p:nvPr/>
        </p:nvSpPr>
        <p:spPr>
          <a:xfrm>
            <a:off x="2743200" y="457200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40"/>
          <p:cNvSpPr/>
          <p:nvPr/>
        </p:nvSpPr>
        <p:spPr>
          <a:xfrm>
            <a:off x="2743200" y="454464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48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ight Arrow 41"/>
          <p:cNvSpPr/>
          <p:nvPr/>
        </p:nvSpPr>
        <p:spPr>
          <a:xfrm>
            <a:off x="4206240" y="4572000"/>
            <a:ext cx="22788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42"/>
          <p:cNvSpPr/>
          <p:nvPr/>
        </p:nvSpPr>
        <p:spPr>
          <a:xfrm>
            <a:off x="4572000" y="457200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43"/>
          <p:cNvSpPr/>
          <p:nvPr/>
        </p:nvSpPr>
        <p:spPr>
          <a:xfrm>
            <a:off x="4572000" y="454464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78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4"/>
          <p:cNvSpPr/>
          <p:nvPr/>
        </p:nvSpPr>
        <p:spPr>
          <a:xfrm>
            <a:off x="6126480" y="452628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5"/>
          <p:cNvSpPr/>
          <p:nvPr/>
        </p:nvSpPr>
        <p:spPr>
          <a:xfrm>
            <a:off x="1097280" y="502920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NPC Trust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46"/>
          <p:cNvSpPr/>
          <p:nvPr/>
        </p:nvSpPr>
        <p:spPr>
          <a:xfrm>
            <a:off x="2743200" y="507492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47"/>
          <p:cNvSpPr/>
          <p:nvPr/>
        </p:nvSpPr>
        <p:spPr>
          <a:xfrm>
            <a:off x="2743200" y="504756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62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ight Arrow 48"/>
          <p:cNvSpPr/>
          <p:nvPr/>
        </p:nvSpPr>
        <p:spPr>
          <a:xfrm>
            <a:off x="4206240" y="5074920"/>
            <a:ext cx="22788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ounded Rectangle 49"/>
          <p:cNvSpPr/>
          <p:nvPr/>
        </p:nvSpPr>
        <p:spPr>
          <a:xfrm>
            <a:off x="4572000" y="507492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50"/>
          <p:cNvSpPr/>
          <p:nvPr/>
        </p:nvSpPr>
        <p:spPr>
          <a:xfrm>
            <a:off x="4572000" y="504756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34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51"/>
          <p:cNvSpPr/>
          <p:nvPr/>
        </p:nvSpPr>
        <p:spPr>
          <a:xfrm>
            <a:off x="6126480" y="502920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▼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2"/>
          <p:cNvSpPr/>
          <p:nvPr/>
        </p:nvSpPr>
        <p:spPr>
          <a:xfrm>
            <a:off x="1097280" y="553212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Scarcity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53"/>
          <p:cNvSpPr/>
          <p:nvPr/>
        </p:nvSpPr>
        <p:spPr>
          <a:xfrm>
            <a:off x="2743200" y="557784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E8B8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54"/>
          <p:cNvSpPr/>
          <p:nvPr/>
        </p:nvSpPr>
        <p:spPr>
          <a:xfrm>
            <a:off x="2743200" y="555048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23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ight Arrow 55"/>
          <p:cNvSpPr/>
          <p:nvPr/>
        </p:nvSpPr>
        <p:spPr>
          <a:xfrm>
            <a:off x="4206240" y="5577840"/>
            <a:ext cx="22788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ounded Rectangle 56"/>
          <p:cNvSpPr/>
          <p:nvPr/>
        </p:nvSpPr>
        <p:spPr>
          <a:xfrm>
            <a:off x="4572000" y="5577840"/>
            <a:ext cx="1370880" cy="227880"/>
          </a:xfrm>
          <a:prstGeom prst="roundRect">
            <a:avLst>
              <a:gd name="adj" fmla="val 16667"/>
            </a:avLst>
          </a:prstGeom>
          <a:solidFill>
            <a:srgbClr val="E8B8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7"/>
          <p:cNvSpPr/>
          <p:nvPr/>
        </p:nvSpPr>
        <p:spPr>
          <a:xfrm>
            <a:off x="4572000" y="5550480"/>
            <a:ext cx="1370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199"/>
              </a:lnSpc>
            </a:pPr>
            <a:r>
              <a:rPr lang="en-US" sz="10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67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8"/>
          <p:cNvSpPr/>
          <p:nvPr/>
        </p:nvSpPr>
        <p:spPr>
          <a:xfrm>
            <a:off x="6126480" y="5532120"/>
            <a:ext cx="456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1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▲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9"/>
          <p:cNvSpPr/>
          <p:nvPr/>
        </p:nvSpPr>
        <p:spPr>
          <a:xfrm>
            <a:off x="7772400" y="416052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ENGINE SPECS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60"/>
          <p:cNvSpPr/>
          <p:nvPr/>
        </p:nvSpPr>
        <p:spPr>
          <a:xfrm>
            <a:off x="7955280" y="45720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9 variables, 7 factors per scene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61"/>
          <p:cNvSpPr/>
          <p:nvPr/>
        </p:nvSpPr>
        <p:spPr>
          <a:xfrm>
            <a:off x="7955280" y="4892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Converges in 3-5 iterations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62"/>
          <p:cNvSpPr/>
          <p:nvPr/>
        </p:nvSpPr>
        <p:spPr>
          <a:xfrm>
            <a:off x="7955280" y="521208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15-25ms per inference cycle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3"/>
          <p:cNvSpPr/>
          <p:nvPr/>
        </p:nvSpPr>
        <p:spPr>
          <a:xfrm>
            <a:off x="7955280" y="55321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Posterior variances: 5-30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4"/>
          <p:cNvSpPr/>
          <p:nvPr/>
        </p:nvSpPr>
        <p:spPr>
          <a:xfrm>
            <a:off x="7955280" y="585216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Alpha = 0.6 blending coefficient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5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66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67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68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5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Aethelgard: The Game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640080" y="118872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6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Year 2026. A kingdom has fallen silent behind locked iron gates. A mysterious madness consumed everyone inside. You are the Investigator sent to uncover the truth.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8"/>
          <p:cNvSpPr/>
          <p:nvPr/>
        </p:nvSpPr>
        <p:spPr>
          <a:xfrm>
            <a:off x="640080" y="2103120"/>
            <a:ext cx="1828080" cy="730800"/>
          </a:xfrm>
          <a:prstGeom prst="roundRect">
            <a:avLst>
              <a:gd name="adj" fmla="val 16667"/>
            </a:avLst>
          </a:prstGeom>
          <a:solidFill>
            <a:srgbClr val="7A5C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731520" y="22402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5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Prologue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ight Arrow 10"/>
          <p:cNvSpPr/>
          <p:nvPr/>
        </p:nvSpPr>
        <p:spPr>
          <a:xfrm>
            <a:off x="2496240" y="2286000"/>
            <a:ext cx="2005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11"/>
          <p:cNvSpPr/>
          <p:nvPr/>
        </p:nvSpPr>
        <p:spPr>
          <a:xfrm>
            <a:off x="2926080" y="2103120"/>
            <a:ext cx="1828080" cy="730800"/>
          </a:xfrm>
          <a:prstGeom prst="roundRect">
            <a:avLst>
              <a:gd name="adj" fmla="val 16667"/>
            </a:avLst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3017520" y="22402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5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Stage 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ight Arrow 13"/>
          <p:cNvSpPr/>
          <p:nvPr/>
        </p:nvSpPr>
        <p:spPr>
          <a:xfrm>
            <a:off x="4782240" y="2286000"/>
            <a:ext cx="2005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ounded Rectangle 14"/>
          <p:cNvSpPr/>
          <p:nvPr/>
        </p:nvSpPr>
        <p:spPr>
          <a:xfrm>
            <a:off x="5212080" y="2103120"/>
            <a:ext cx="1828080" cy="730800"/>
          </a:xfrm>
          <a:prstGeom prst="roundRect">
            <a:avLst>
              <a:gd name="adj" fmla="val 16667"/>
            </a:avLst>
          </a:prstGeom>
          <a:solidFill>
            <a:srgbClr val="4A8C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5303520" y="22402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5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Stage 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ight Arrow 16"/>
          <p:cNvSpPr/>
          <p:nvPr/>
        </p:nvSpPr>
        <p:spPr>
          <a:xfrm>
            <a:off x="7068240" y="2286000"/>
            <a:ext cx="2005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ounded Rectangle 17"/>
          <p:cNvSpPr/>
          <p:nvPr/>
        </p:nvSpPr>
        <p:spPr>
          <a:xfrm>
            <a:off x="7498080" y="2103120"/>
            <a:ext cx="1828080" cy="730800"/>
          </a:xfrm>
          <a:prstGeom prst="roundRect">
            <a:avLst>
              <a:gd name="adj" fmla="val 16667"/>
            </a:avLst>
          </a:prstGeom>
          <a:solidFill>
            <a:srgbClr val="E8B8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8"/>
          <p:cNvSpPr/>
          <p:nvPr/>
        </p:nvSpPr>
        <p:spPr>
          <a:xfrm>
            <a:off x="7589520" y="22402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5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Stage 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ight Arrow 19"/>
          <p:cNvSpPr/>
          <p:nvPr/>
        </p:nvSpPr>
        <p:spPr>
          <a:xfrm>
            <a:off x="9354240" y="2286000"/>
            <a:ext cx="200520" cy="27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20"/>
          <p:cNvSpPr/>
          <p:nvPr/>
        </p:nvSpPr>
        <p:spPr>
          <a:xfrm>
            <a:off x="9784080" y="2103120"/>
            <a:ext cx="1828080" cy="730800"/>
          </a:xfrm>
          <a:prstGeom prst="roundRect">
            <a:avLst>
              <a:gd name="adj" fmla="val 16667"/>
            </a:avLst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9875520" y="22402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500" b="1" u="none" strike="noStrike">
                <a:solidFill>
                  <a:srgbClr val="0B0E17"/>
                </a:solidFill>
                <a:effectLst/>
                <a:uFillTx/>
                <a:latin typeface="Calibri"/>
              </a:rPr>
              <a:t>Stage 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640080" y="310896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4 Distinct Endings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23"/>
          <p:cNvSpPr/>
          <p:nvPr/>
        </p:nvSpPr>
        <p:spPr>
          <a:xfrm>
            <a:off x="640080" y="3611880"/>
            <a:ext cx="2696760" cy="10965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A83A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777240" y="37033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The Throne of Isolation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5"/>
          <p:cNvSpPr/>
          <p:nvPr/>
        </p:nvSpPr>
        <p:spPr>
          <a:xfrm>
            <a:off x="777240" y="40690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Survive rich but morally compromised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26"/>
          <p:cNvSpPr/>
          <p:nvPr/>
        </p:nvSpPr>
        <p:spPr>
          <a:xfrm>
            <a:off x="3520440" y="3611880"/>
            <a:ext cx="2696760" cy="10965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4A7C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27"/>
          <p:cNvSpPr/>
          <p:nvPr/>
        </p:nvSpPr>
        <p:spPr>
          <a:xfrm>
            <a:off x="3657600" y="37033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The Burden of Truth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8"/>
          <p:cNvSpPr/>
          <p:nvPr/>
        </p:nvSpPr>
        <p:spPr>
          <a:xfrm>
            <a:off x="3657600" y="40690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Seal the quarantine — sacrifice yourself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9"/>
          <p:cNvSpPr/>
          <p:nvPr/>
        </p:nvSpPr>
        <p:spPr>
          <a:xfrm>
            <a:off x="6400800" y="3611880"/>
            <a:ext cx="2696760" cy="10965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4A8C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30"/>
          <p:cNvSpPr/>
          <p:nvPr/>
        </p:nvSpPr>
        <p:spPr>
          <a:xfrm>
            <a:off x="6537960" y="37033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The Martyr's Legacy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1"/>
          <p:cNvSpPr/>
          <p:nvPr/>
        </p:nvSpPr>
        <p:spPr>
          <a:xfrm>
            <a:off x="6537960" y="40690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Save everyone, die a hero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32"/>
          <p:cNvSpPr/>
          <p:nvPr/>
        </p:nvSpPr>
        <p:spPr>
          <a:xfrm>
            <a:off x="9281160" y="3611880"/>
            <a:ext cx="2696760" cy="10965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78756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33"/>
          <p:cNvSpPr/>
          <p:nvPr/>
        </p:nvSpPr>
        <p:spPr>
          <a:xfrm>
            <a:off x="9418320" y="37033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The Hollow Survivor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4"/>
          <p:cNvSpPr/>
          <p:nvPr/>
        </p:nvSpPr>
        <p:spPr>
          <a:xfrm>
            <a:off x="9418320" y="40690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440"/>
              </a:lnSpc>
            </a:pPr>
            <a:r>
              <a:rPr lang="en-US" sz="1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Escape alive with nothing to show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35"/>
          <p:cNvSpPr/>
          <p:nvPr/>
        </p:nvSpPr>
        <p:spPr>
          <a:xfrm>
            <a:off x="640080" y="5029200"/>
            <a:ext cx="10880640" cy="77652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 w="12700">
            <a:solidFill>
              <a:srgbClr val="C9A84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36"/>
          <p:cNvSpPr/>
          <p:nvPr/>
        </p:nvSpPr>
        <p:spPr>
          <a:xfrm>
            <a:off x="914400" y="5120640"/>
            <a:ext cx="10332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Which ending you get depends on your choices — not on a script.</a:t>
            </a:r>
            <a:br>
              <a:rPr sz="1400"/>
            </a:br>
            <a:r>
              <a:rPr lang="en-US" sz="14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We ran 1,000 random playthroughs: each ending occurs ~25% of the time.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7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38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9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0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6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What Makes This Different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7"/>
          <p:cNvSpPr/>
          <p:nvPr/>
        </p:nvSpPr>
        <p:spPr>
          <a:xfrm>
            <a:off x="640080" y="1188720"/>
            <a:ext cx="62640" cy="1416600"/>
          </a:xfrm>
          <a:prstGeom prst="rect">
            <a:avLst/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8"/>
          <p:cNvSpPr/>
          <p:nvPr/>
        </p:nvSpPr>
        <p:spPr>
          <a:xfrm>
            <a:off x="685800" y="1188720"/>
            <a:ext cx="10834920" cy="14166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4A7C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1005840" y="12985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AI Brain Panel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0"/>
          <p:cNvSpPr/>
          <p:nvPr/>
        </p:nvSpPr>
        <p:spPr>
          <a:xfrm>
            <a:off x="1005840" y="1691640"/>
            <a:ext cx="1024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Real-time visualization of the factor graph's beliefs.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Players see WHY outcomes happen — not just WHAT happens.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Dual use: game feature + educational tool.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1"/>
          <p:cNvSpPr/>
          <p:nvPr/>
        </p:nvSpPr>
        <p:spPr>
          <a:xfrm>
            <a:off x="640080" y="2880360"/>
            <a:ext cx="62640" cy="1416600"/>
          </a:xfrm>
          <a:prstGeom prst="rect">
            <a:avLst/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ounded Rectangle 12"/>
          <p:cNvSpPr/>
          <p:nvPr/>
        </p:nvSpPr>
        <p:spPr>
          <a:xfrm>
            <a:off x="685800" y="2880360"/>
            <a:ext cx="10834920" cy="14166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A83A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3"/>
          <p:cNvSpPr/>
          <p:nvPr/>
        </p:nvSpPr>
        <p:spPr>
          <a:xfrm>
            <a:off x="1005840" y="299016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Emergent Betrayals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4"/>
          <p:cNvSpPr/>
          <p:nvPr/>
        </p:nvSpPr>
        <p:spPr>
          <a:xfrm>
            <a:off x="1005840" y="3383280"/>
            <a:ext cx="1024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NPC betrayals aren't scripted. They emerge from low trust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beliefs combined with high threat. Different seeds produce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different betrayals — even with identical player choices.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5"/>
          <p:cNvSpPr/>
          <p:nvPr/>
        </p:nvSpPr>
        <p:spPr>
          <a:xfrm>
            <a:off x="640080" y="4572000"/>
            <a:ext cx="62640" cy="1416600"/>
          </a:xfrm>
          <a:prstGeom prst="rect">
            <a:avLst/>
          </a:prstGeom>
          <a:solidFill>
            <a:srgbClr val="4A8C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320" tIns="45000" rIns="313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ounded Rectangle 16"/>
          <p:cNvSpPr/>
          <p:nvPr/>
        </p:nvSpPr>
        <p:spPr>
          <a:xfrm>
            <a:off x="685800" y="4572000"/>
            <a:ext cx="10834920" cy="141660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4A8C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1005840" y="468180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800" b="1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Temporal Persistence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8"/>
          <p:cNvSpPr/>
          <p:nvPr/>
        </p:nvSpPr>
        <p:spPr>
          <a:xfrm>
            <a:off x="1005840" y="5074920"/>
            <a:ext cx="1024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89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Beliefs carry forward between scenes with variance shrinkage.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Early choices compound: betray someone in Scene 1, and</a:t>
            </a:r>
            <a:br>
              <a:rPr sz="1400"/>
            </a:b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the threat stays elevated through Scene 4.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640080" y="571500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No external AI models. No neural networks. Pure factor graph inference — fast, explainable, deterministic given a seed.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20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1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2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7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0" y="0"/>
            <a:ext cx="12191040" cy="36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2"/>
          <p:cNvSpPr/>
          <p:nvPr/>
        </p:nvSpPr>
        <p:spPr>
          <a:xfrm>
            <a:off x="640080" y="274320"/>
            <a:ext cx="9143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121"/>
              </a:lnSpc>
            </a:pPr>
            <a:r>
              <a:rPr lang="en-US" sz="26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Results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3"/>
          <p:cNvSpPr/>
          <p:nvPr/>
        </p:nvSpPr>
        <p:spPr>
          <a:xfrm>
            <a:off x="640080" y="841320"/>
            <a:ext cx="274248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5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6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640080" y="118872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ENDING DISTRIBUTION  (N=1,000)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8"/>
          <p:cNvSpPr/>
          <p:nvPr/>
        </p:nvSpPr>
        <p:spPr>
          <a:xfrm>
            <a:off x="640080" y="169164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Throne of Mirrors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9"/>
          <p:cNvSpPr/>
          <p:nvPr/>
        </p:nvSpPr>
        <p:spPr>
          <a:xfrm>
            <a:off x="640080" y="1965960"/>
            <a:ext cx="3460680" cy="227880"/>
          </a:xfrm>
          <a:prstGeom prst="roundRect">
            <a:avLst>
              <a:gd name="adj" fmla="val 16667"/>
            </a:avLst>
          </a:prstGeom>
          <a:solidFill>
            <a:srgbClr val="A83A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0"/>
          <p:cNvSpPr/>
          <p:nvPr/>
        </p:nvSpPr>
        <p:spPr>
          <a:xfrm>
            <a:off x="4192920" y="192924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A83A3A"/>
                </a:solidFill>
                <a:effectLst/>
                <a:uFillTx/>
                <a:latin typeface="Calibri"/>
              </a:rPr>
              <a:t>24.7%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1"/>
          <p:cNvSpPr/>
          <p:nvPr/>
        </p:nvSpPr>
        <p:spPr>
          <a:xfrm>
            <a:off x="640080" y="242316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Burden of Truth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ounded Rectangle 12"/>
          <p:cNvSpPr/>
          <p:nvPr/>
        </p:nvSpPr>
        <p:spPr>
          <a:xfrm>
            <a:off x="640080" y="2697480"/>
            <a:ext cx="3656880" cy="227880"/>
          </a:xfrm>
          <a:prstGeom prst="roundRect">
            <a:avLst>
              <a:gd name="adj" fmla="val 16667"/>
            </a:avLst>
          </a:prstGeom>
          <a:solidFill>
            <a:srgbClr val="4A7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3"/>
          <p:cNvSpPr/>
          <p:nvPr/>
        </p:nvSpPr>
        <p:spPr>
          <a:xfrm>
            <a:off x="4389120" y="266076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4A7CB0"/>
                </a:solidFill>
                <a:effectLst/>
                <a:uFillTx/>
                <a:latin typeface="Calibri"/>
              </a:rPr>
              <a:t>26.1%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4"/>
          <p:cNvSpPr/>
          <p:nvPr/>
        </p:nvSpPr>
        <p:spPr>
          <a:xfrm>
            <a:off x="640080" y="315468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Martyr's Legacy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15"/>
          <p:cNvSpPr/>
          <p:nvPr/>
        </p:nvSpPr>
        <p:spPr>
          <a:xfrm>
            <a:off x="640080" y="3429000"/>
            <a:ext cx="3544920" cy="227880"/>
          </a:xfrm>
          <a:prstGeom prst="roundRect">
            <a:avLst>
              <a:gd name="adj" fmla="val 16667"/>
            </a:avLst>
          </a:prstGeom>
          <a:solidFill>
            <a:srgbClr val="4A8C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6"/>
          <p:cNvSpPr/>
          <p:nvPr/>
        </p:nvSpPr>
        <p:spPr>
          <a:xfrm>
            <a:off x="4277160" y="339228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4A8C6F"/>
                </a:solidFill>
                <a:effectLst/>
                <a:uFillTx/>
                <a:latin typeface="Calibri"/>
              </a:rPr>
              <a:t>25.3%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7"/>
          <p:cNvSpPr/>
          <p:nvPr/>
        </p:nvSpPr>
        <p:spPr>
          <a:xfrm>
            <a:off x="640080" y="388620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Hollow Survivor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18"/>
          <p:cNvSpPr/>
          <p:nvPr/>
        </p:nvSpPr>
        <p:spPr>
          <a:xfrm>
            <a:off x="640080" y="4160520"/>
            <a:ext cx="3348720" cy="227880"/>
          </a:xfrm>
          <a:prstGeom prst="roundRect">
            <a:avLst>
              <a:gd name="adj" fmla="val 16667"/>
            </a:avLst>
          </a:prstGeom>
          <a:solidFill>
            <a:srgbClr val="787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9"/>
          <p:cNvSpPr/>
          <p:nvPr/>
        </p:nvSpPr>
        <p:spPr>
          <a:xfrm>
            <a:off x="4080960" y="4123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440"/>
              </a:lnSpc>
            </a:pPr>
            <a:r>
              <a:rPr lang="en-US" sz="1200" b="1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23.9%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0"/>
          <p:cNvSpPr/>
          <p:nvPr/>
        </p:nvSpPr>
        <p:spPr>
          <a:xfrm>
            <a:off x="640080" y="484632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755"/>
              </a:lnSpc>
            </a:pPr>
            <a:r>
              <a:rPr lang="en-US" sz="13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~25% each = outcomes genuinely driven</a:t>
            </a:r>
            <a:br>
              <a:rPr sz="1300"/>
            </a:br>
            <a:r>
              <a:rPr lang="en-US" sz="13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by player decisions, not structural bias.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1"/>
          <p:cNvSpPr/>
          <p:nvPr/>
        </p:nvSpPr>
        <p:spPr>
          <a:xfrm>
            <a:off x="6400800" y="118872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1300" b="1" u="none" strike="noStrike">
                <a:solidFill>
                  <a:srgbClr val="C9A84F"/>
                </a:solidFill>
                <a:effectLst/>
                <a:uFillTx/>
                <a:latin typeface="Calibri"/>
              </a:rPr>
              <a:t>KEY NUMBERS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22"/>
          <p:cNvSpPr/>
          <p:nvPr/>
        </p:nvSpPr>
        <p:spPr>
          <a:xfrm>
            <a:off x="6400800" y="1737360"/>
            <a:ext cx="5302800" cy="639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4A8C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3"/>
          <p:cNvSpPr/>
          <p:nvPr/>
        </p:nvSpPr>
        <p:spPr>
          <a:xfrm>
            <a:off x="6675120" y="18288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lang="en-US" sz="2800" b="1" u="none" strike="noStrike">
                <a:solidFill>
                  <a:srgbClr val="4A8C6F"/>
                </a:solidFill>
                <a:effectLst/>
                <a:uFillTx/>
                <a:latin typeface="Calibri Light"/>
              </a:rPr>
              <a:t>3-5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4"/>
          <p:cNvSpPr/>
          <p:nvPr/>
        </p:nvSpPr>
        <p:spPr>
          <a:xfrm>
            <a:off x="8686800" y="187452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iterations to converge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25"/>
          <p:cNvSpPr/>
          <p:nvPr/>
        </p:nvSpPr>
        <p:spPr>
          <a:xfrm>
            <a:off x="6400800" y="2514600"/>
            <a:ext cx="5302800" cy="639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4A7C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6"/>
          <p:cNvSpPr/>
          <p:nvPr/>
        </p:nvSpPr>
        <p:spPr>
          <a:xfrm>
            <a:off x="6675120" y="260604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lang="en-US" sz="2800" b="1" u="none" strike="noStrike">
                <a:solidFill>
                  <a:srgbClr val="4A7CB0"/>
                </a:solidFill>
                <a:effectLst/>
                <a:uFillTx/>
                <a:latin typeface="Calibri Light"/>
              </a:rPr>
              <a:t>15ms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7"/>
          <p:cNvSpPr/>
          <p:nvPr/>
        </p:nvSpPr>
        <p:spPr>
          <a:xfrm>
            <a:off x="8686800" y="265176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per inference cycle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28"/>
          <p:cNvSpPr/>
          <p:nvPr/>
        </p:nvSpPr>
        <p:spPr>
          <a:xfrm>
            <a:off x="6400800" y="3291840"/>
            <a:ext cx="5302800" cy="639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7A5C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29"/>
          <p:cNvSpPr/>
          <p:nvPr/>
        </p:nvSpPr>
        <p:spPr>
          <a:xfrm>
            <a:off x="6675120" y="33832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lang="en-US" sz="2800" b="1" u="none" strike="noStrike">
                <a:solidFill>
                  <a:srgbClr val="7A5CC4"/>
                </a:solidFill>
                <a:effectLst/>
                <a:uFillTx/>
                <a:latin typeface="Calibri Light"/>
              </a:rPr>
              <a:t>20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0"/>
          <p:cNvSpPr/>
          <p:nvPr/>
        </p:nvSpPr>
        <p:spPr>
          <a:xfrm>
            <a:off x="8686800" y="342900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story nodes, 4 endings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31"/>
          <p:cNvSpPr/>
          <p:nvPr/>
        </p:nvSpPr>
        <p:spPr>
          <a:xfrm>
            <a:off x="6400800" y="4069080"/>
            <a:ext cx="5302800" cy="639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E8B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2"/>
          <p:cNvSpPr/>
          <p:nvPr/>
        </p:nvSpPr>
        <p:spPr>
          <a:xfrm>
            <a:off x="6675120" y="416052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lang="en-US" sz="2800" b="1" u="none" strike="noStrike">
                <a:solidFill>
                  <a:srgbClr val="E8B85A"/>
                </a:solidFill>
                <a:effectLst/>
                <a:uFillTx/>
                <a:latin typeface="Calibri Light"/>
              </a:rPr>
              <a:t>8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3"/>
          <p:cNvSpPr/>
          <p:nvPr/>
        </p:nvSpPr>
        <p:spPr>
          <a:xfrm>
            <a:off x="8686800" y="420624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characters with 3 expressions each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34"/>
          <p:cNvSpPr/>
          <p:nvPr/>
        </p:nvSpPr>
        <p:spPr>
          <a:xfrm>
            <a:off x="6400800" y="4846320"/>
            <a:ext cx="5302800" cy="639360"/>
          </a:xfrm>
          <a:prstGeom prst="roundRect">
            <a:avLst>
              <a:gd name="adj" fmla="val 16667"/>
            </a:avLst>
          </a:prstGeom>
          <a:solidFill>
            <a:srgbClr val="131724"/>
          </a:solidFill>
          <a:ln>
            <a:solidFill>
              <a:srgbClr val="A83A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35"/>
          <p:cNvSpPr/>
          <p:nvPr/>
        </p:nvSpPr>
        <p:spPr>
          <a:xfrm>
            <a:off x="6675120" y="4937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3359"/>
              </a:lnSpc>
            </a:pPr>
            <a:r>
              <a:rPr lang="en-US" sz="2800" b="1" u="none" strike="noStrike">
                <a:solidFill>
                  <a:srgbClr val="A83A3A"/>
                </a:solidFill>
                <a:effectLst/>
                <a:uFillTx/>
                <a:latin typeface="Calibri Light"/>
              </a:rPr>
              <a:t>43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6"/>
          <p:cNvSpPr/>
          <p:nvPr/>
        </p:nvSpPr>
        <p:spPr>
          <a:xfrm>
            <a:off x="8686800" y="49834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ts val="1681"/>
              </a:lnSpc>
            </a:pPr>
            <a:r>
              <a:rPr lang="en-US" sz="14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background images &amp; portraits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37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38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39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40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8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2"/>
          <p:cNvSpPr/>
          <p:nvPr/>
        </p:nvSpPr>
        <p:spPr>
          <a:xfrm>
            <a:off x="0" y="6803280"/>
            <a:ext cx="12191040" cy="5400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3"/>
          <p:cNvSpPr/>
          <p:nvPr/>
        </p:nvSpPr>
        <p:spPr>
          <a:xfrm>
            <a:off x="731520" y="457200"/>
            <a:ext cx="10728000" cy="5942880"/>
          </a:xfrm>
          <a:prstGeom prst="rect">
            <a:avLst/>
          </a:prstGeom>
          <a:noFill/>
          <a:ln w="12700">
            <a:solidFill>
              <a:srgbClr val="3A352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4"/>
          <p:cNvSpPr/>
          <p:nvPr/>
        </p:nvSpPr>
        <p:spPr>
          <a:xfrm>
            <a:off x="1097280" y="1645920"/>
            <a:ext cx="9966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6480"/>
              </a:lnSpc>
            </a:pPr>
            <a:r>
              <a:rPr lang="en-US" sz="5400" b="1" u="none" strike="noStrike">
                <a:solidFill>
                  <a:srgbClr val="C9A84F"/>
                </a:solidFill>
                <a:effectLst/>
                <a:uFillTx/>
                <a:latin typeface="Calibri Light"/>
              </a:rPr>
              <a:t>Thank You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5"/>
          <p:cNvSpPr/>
          <p:nvPr/>
        </p:nvSpPr>
        <p:spPr>
          <a:xfrm>
            <a:off x="5029200" y="2560320"/>
            <a:ext cx="2102400" cy="24840"/>
          </a:xfrm>
          <a:prstGeom prst="rect">
            <a:avLst/>
          </a:prstGeom>
          <a:solidFill>
            <a:srgbClr val="C9A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1097280" y="2834640"/>
            <a:ext cx="9966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2200" b="0" u="none" strike="noStrike">
                <a:solidFill>
                  <a:srgbClr val="B8B4A6"/>
                </a:solidFill>
                <a:effectLst/>
                <a:uFillTx/>
                <a:latin typeface="Calibri"/>
              </a:rPr>
              <a:t>Questions &amp; Discussion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7"/>
          <p:cNvSpPr/>
          <p:nvPr/>
        </p:nvSpPr>
        <p:spPr>
          <a:xfrm>
            <a:off x="1097280" y="365760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19"/>
              </a:lnSpc>
            </a:pPr>
            <a:r>
              <a:rPr lang="en-US" sz="1600" b="0" u="none" strike="noStrike">
                <a:solidFill>
                  <a:srgbClr val="E8B85A"/>
                </a:solidFill>
                <a:effectLst/>
                <a:uFillTx/>
                <a:latin typeface="Calibri"/>
              </a:rPr>
              <a:t>Next: 1-minute gameplay demo  +  Code walkthrough from GitHub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8"/>
          <p:cNvSpPr/>
          <p:nvPr/>
        </p:nvSpPr>
        <p:spPr>
          <a:xfrm>
            <a:off x="1097280" y="4754880"/>
            <a:ext cx="9966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950"/>
              </a:lnSpc>
            </a:pPr>
            <a:r>
              <a:rPr lang="en-US" sz="13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Soomaiya Chowdhury (2211856042)  |  Mahmudur Rahman Labib (2131214642)  |  Shreysee Moni Shashy (2122043642)  |  Shafi Mahadi Nowrose (2121620643)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9"/>
          <p:cNvSpPr/>
          <p:nvPr/>
        </p:nvSpPr>
        <p:spPr>
          <a:xfrm>
            <a:off x="0" y="6473880"/>
            <a:ext cx="12191040" cy="383400"/>
          </a:xfrm>
          <a:prstGeom prst="rect">
            <a:avLst/>
          </a:prstGeom>
          <a:solidFill>
            <a:srgbClr val="080A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10"/>
          <p:cNvSpPr/>
          <p:nvPr/>
        </p:nvSpPr>
        <p:spPr>
          <a:xfrm>
            <a:off x="0" y="6455520"/>
            <a:ext cx="12191040" cy="18360"/>
          </a:xfrm>
          <a:prstGeom prst="rect">
            <a:avLst/>
          </a:prstGeom>
          <a:solidFill>
            <a:srgbClr val="8B76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1"/>
          <p:cNvSpPr/>
          <p:nvPr/>
        </p:nvSpPr>
        <p:spPr>
          <a:xfrm>
            <a:off x="457200" y="6510600"/>
            <a:ext cx="11246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CSE440 Section 1  |  Group 9  |  Soomaiya  |  Labib  |  Shreysee  |  Shafi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2"/>
          <p:cNvSpPr/>
          <p:nvPr/>
        </p:nvSpPr>
        <p:spPr>
          <a:xfrm>
            <a:off x="11094480" y="6510600"/>
            <a:ext cx="822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ts val="1080"/>
              </a:lnSpc>
            </a:pPr>
            <a:r>
              <a:rPr lang="en-US" sz="900" b="0" u="none" strike="noStrike">
                <a:solidFill>
                  <a:srgbClr val="78756A"/>
                </a:solidFill>
                <a:effectLst/>
                <a:uFillTx/>
                <a:latin typeface="Calibri"/>
              </a:rPr>
              <a:t>9 / 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2026-08-27T15:28:14Z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